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5"/>
    <p:sldMasterId id="214748371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Newsreader"/>
      <p:regular r:id="rId27"/>
      <p:bold r:id="rId28"/>
      <p:italic r:id="rId29"/>
      <p:boldItalic r:id="rId30"/>
    </p:embeddedFont>
    <p:embeddedFont>
      <p:font typeface="DM Sans Light"/>
      <p:regular r:id="rId31"/>
      <p:bold r:id="rId32"/>
      <p:italic r:id="rId33"/>
      <p:boldItalic r:id="rId34"/>
    </p:embeddedFont>
    <p:embeddedFont>
      <p:font typeface="DM Sans SemiBold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Newsreader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C886B8-FFB4-4BDE-BA75-7B5D32792367}">
  <a:tblStyle styleId="{3AC886B8-FFB4-4BDE-BA75-7B5D327923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44" Type="http://schemas.openxmlformats.org/officeDocument/2006/relationships/font" Target="fonts/NewsreaderSemiBold-bold.fntdata"/><Relationship Id="rId43" Type="http://schemas.openxmlformats.org/officeDocument/2006/relationships/font" Target="fonts/NewsreaderSemiBold-regular.fntdata"/><Relationship Id="rId46" Type="http://schemas.openxmlformats.org/officeDocument/2006/relationships/font" Target="fonts/NewsreaderSemiBold-boldItalic.fntdata"/><Relationship Id="rId45" Type="http://schemas.openxmlformats.org/officeDocument/2006/relationships/font" Target="fonts/Newsread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Light-regular.fntdata"/><Relationship Id="rId30" Type="http://schemas.openxmlformats.org/officeDocument/2006/relationships/font" Target="fonts/Newsreader-boldItalic.fntdata"/><Relationship Id="rId33" Type="http://schemas.openxmlformats.org/officeDocument/2006/relationships/font" Target="fonts/DMSansLight-italic.fntdata"/><Relationship Id="rId32" Type="http://schemas.openxmlformats.org/officeDocument/2006/relationships/font" Target="fonts/DMSansLight-bold.fntdata"/><Relationship Id="rId35" Type="http://schemas.openxmlformats.org/officeDocument/2006/relationships/font" Target="fonts/DMSansSemiBold-regular.fntdata"/><Relationship Id="rId34" Type="http://schemas.openxmlformats.org/officeDocument/2006/relationships/font" Target="fonts/DMSansLight-boldItalic.fntdata"/><Relationship Id="rId37" Type="http://schemas.openxmlformats.org/officeDocument/2006/relationships/font" Target="fonts/DMSansSemiBold-italic.fntdata"/><Relationship Id="rId36" Type="http://schemas.openxmlformats.org/officeDocument/2006/relationships/font" Target="fonts/DMSansSemiBold-bold.fntdata"/><Relationship Id="rId39" Type="http://schemas.openxmlformats.org/officeDocument/2006/relationships/font" Target="fonts/DMSans-regular.fntdata"/><Relationship Id="rId38" Type="http://schemas.openxmlformats.org/officeDocument/2006/relationships/font" Target="fonts/DMSansSemiBold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Newsreader-bold.fntdata"/><Relationship Id="rId27" Type="http://schemas.openxmlformats.org/officeDocument/2006/relationships/font" Target="fonts/Newsreader-regular.fntdata"/><Relationship Id="rId29" Type="http://schemas.openxmlformats.org/officeDocument/2006/relationships/font" Target="fonts/Newsreader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8b1e3d81fa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8b1e3d81f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8b1e3d81fa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8b1e3d81fa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8b1e3d81fa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8b1e3d81fa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8b1e3d81fa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8b1e3d81fa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b1e3d81fa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8b1e3d81fa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8b1e3d81fa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8b1e3d81fa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8d4634473a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8d4634473a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8b1e3d81fa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8b1e3d81fa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8bf1c17f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8bf1c17f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8bf1c17fc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8bf1c17fc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bf1c17fc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bf1c17fc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8bf1c17fc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8bf1c17fc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8b1e3d81fa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8b1e3d81fa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8b1e3d81fa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8b1e3d81fa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8c9d5b5e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8c9d5b5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8c9d5b5e1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8c9d5b5e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8b1e3d81fa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8b1e3d81fa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8b1e3d81fa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8b1e3d81fa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8b1e3d81fa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8b1e3d81fa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L8k4l7011yIcWp-954G6kOUbb1uiyPA5/view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ARINC 429 Midterm Presentation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</a:t>
            </a:r>
            <a:r>
              <a:rPr lang="en"/>
              <a:t>Caterpillar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10/15</a:t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422050" y="29225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This presentation outlines a the concept security gateway design of ARINC 429 data bus.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/>
          <p:nvPr/>
        </p:nvSpPr>
        <p:spPr>
          <a:xfrm>
            <a:off x="6857075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68"/>
          <p:cNvSpPr/>
          <p:nvPr/>
        </p:nvSpPr>
        <p:spPr>
          <a:xfrm>
            <a:off x="4562625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2294450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68"/>
          <p:cNvSpPr txBox="1"/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i="1" lang="en"/>
              <a:t>t</a:t>
            </a:r>
            <a:r>
              <a:rPr i="1" lang="en"/>
              <a:t>eam</a:t>
            </a:r>
            <a:endParaRPr i="1"/>
          </a:p>
        </p:txBody>
      </p:sp>
      <p:sp>
        <p:nvSpPr>
          <p:cNvPr id="525" name="Google Shape;525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68"/>
          <p:cNvSpPr txBox="1"/>
          <p:nvPr>
            <p:ph idx="9" type="subTitle"/>
          </p:nvPr>
        </p:nvSpPr>
        <p:spPr>
          <a:xfrm>
            <a:off x="361975" y="2159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8"/>
          <p:cNvSpPr txBox="1"/>
          <p:nvPr>
            <p:ph idx="16" type="subTitle"/>
          </p:nvPr>
        </p:nvSpPr>
        <p:spPr>
          <a:xfrm>
            <a:off x="7188325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</a:t>
            </a:r>
            <a:endParaRPr/>
          </a:p>
        </p:txBody>
      </p:sp>
      <p:sp>
        <p:nvSpPr>
          <p:cNvPr id="528" name="Google Shape;528;p68"/>
          <p:cNvSpPr txBox="1"/>
          <p:nvPr>
            <p:ph idx="19" type="subTitle"/>
          </p:nvPr>
        </p:nvSpPr>
        <p:spPr>
          <a:xfrm>
            <a:off x="4924850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Nate</a:t>
            </a:r>
            <a:endParaRPr/>
          </a:p>
        </p:txBody>
      </p:sp>
      <p:sp>
        <p:nvSpPr>
          <p:cNvPr id="529" name="Google Shape;529;p68"/>
          <p:cNvSpPr txBox="1"/>
          <p:nvPr>
            <p:ph idx="22" type="subTitle"/>
          </p:nvPr>
        </p:nvSpPr>
        <p:spPr>
          <a:xfrm>
            <a:off x="2643513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Joshua</a:t>
            </a:r>
            <a:endParaRPr/>
          </a:p>
        </p:txBody>
      </p:sp>
      <p:pic>
        <p:nvPicPr>
          <p:cNvPr id="530" name="Google Shape;530;p68" title="Screenshot 2025-10-10 122757.pn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845" l="0" r="0" t="845"/>
          <a:stretch/>
        </p:blipFill>
        <p:spPr>
          <a:xfrm>
            <a:off x="2939188" y="1923334"/>
            <a:ext cx="991800" cy="991800"/>
          </a:xfrm>
          <a:prstGeom prst="rect">
            <a:avLst/>
          </a:prstGeom>
        </p:spPr>
      </p:pic>
      <p:pic>
        <p:nvPicPr>
          <p:cNvPr id="531" name="Google Shape;531;p68" title="Screenshot 2025-10-10 122803.png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1286" r="1286" t="0"/>
          <a:stretch/>
        </p:blipFill>
        <p:spPr>
          <a:xfrm>
            <a:off x="5217238" y="1923334"/>
            <a:ext cx="991800" cy="991800"/>
          </a:xfrm>
          <a:prstGeom prst="rect">
            <a:avLst/>
          </a:prstGeom>
        </p:spPr>
      </p:pic>
      <p:pic>
        <p:nvPicPr>
          <p:cNvPr id="532" name="Google Shape;532;p68" title="Screenshot 2025-10-10 123051.png"/>
          <p:cNvPicPr preferRelativeResize="0"/>
          <p:nvPr>
            <p:ph idx="7" type="pic"/>
          </p:nvPr>
        </p:nvPicPr>
        <p:blipFill rotWithShape="1">
          <a:blip r:embed="rId5">
            <a:alphaModFix/>
          </a:blip>
          <a:srcRect b="4018" l="0" r="0" t="4018"/>
          <a:stretch/>
        </p:blipFill>
        <p:spPr>
          <a:xfrm>
            <a:off x="7492938" y="1923334"/>
            <a:ext cx="991799" cy="99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/>
          <p:nvPr/>
        </p:nvSpPr>
        <p:spPr>
          <a:xfrm>
            <a:off x="50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69"/>
          <p:cNvSpPr/>
          <p:nvPr/>
        </p:nvSpPr>
        <p:spPr>
          <a:xfrm>
            <a:off x="3048087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6096124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69"/>
          <p:cNvSpPr/>
          <p:nvPr/>
        </p:nvSpPr>
        <p:spPr>
          <a:xfrm>
            <a:off x="50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69"/>
          <p:cNvSpPr/>
          <p:nvPr/>
        </p:nvSpPr>
        <p:spPr>
          <a:xfrm>
            <a:off x="3048087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2" name="Google Shape;542;p69"/>
          <p:cNvSpPr/>
          <p:nvPr/>
        </p:nvSpPr>
        <p:spPr>
          <a:xfrm>
            <a:off x="6096124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3" name="Google Shape;543;p69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ARINC Use Case</a:t>
            </a:r>
            <a:endParaRPr/>
          </a:p>
        </p:txBody>
      </p:sp>
      <p:sp>
        <p:nvSpPr>
          <p:cNvPr id="544" name="Google Shape;544;p69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45" name="Google Shape;545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69"/>
          <p:cNvSpPr txBox="1"/>
          <p:nvPr>
            <p:ph type="title"/>
          </p:nvPr>
        </p:nvSpPr>
        <p:spPr>
          <a:xfrm>
            <a:off x="361975" y="616117"/>
            <a:ext cx="5718600" cy="9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</a:t>
            </a:r>
            <a:r>
              <a:rPr i="1" lang="en"/>
              <a:t>o</a:t>
            </a:r>
            <a:r>
              <a:rPr i="1" lang="en"/>
              <a:t>verview </a:t>
            </a:r>
            <a:r>
              <a:rPr lang="en"/>
              <a:t>ARINC 429</a:t>
            </a:r>
            <a:endParaRPr i="1"/>
          </a:p>
        </p:txBody>
      </p:sp>
      <p:sp>
        <p:nvSpPr>
          <p:cNvPr id="547" name="Google Shape;547;p69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ARINC Technical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9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49" name="Google Shape;549;p69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9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51" name="Google Shape;551;p69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9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53" name="Google Shape;553;p69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9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55" name="Google Shape;555;p69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9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57" name="Google Shape;557;p69"/>
          <p:cNvSpPr txBox="1"/>
          <p:nvPr>
            <p:ph idx="4" type="subTitle"/>
          </p:nvPr>
        </p:nvSpPr>
        <p:spPr>
          <a:xfrm>
            <a:off x="363200" y="250500"/>
            <a:ext cx="41631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 sz="7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0"/>
          <p:cNvSpPr txBox="1"/>
          <p:nvPr>
            <p:ph type="title"/>
          </p:nvPr>
        </p:nvSpPr>
        <p:spPr>
          <a:xfrm>
            <a:off x="4854900" y="903963"/>
            <a:ext cx="4289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ARINC 429?</a:t>
            </a:r>
            <a:endParaRPr/>
          </a:p>
        </p:txBody>
      </p:sp>
      <p:pic>
        <p:nvPicPr>
          <p:cNvPr descr="A portrait of a man in profile, silhouetted against a dark blue background. " id="563" name="Google Shape;563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891" l="0" r="0" t="7999"/>
          <a:stretch/>
        </p:blipFill>
        <p:spPr>
          <a:xfrm flipH="1">
            <a:off x="953803" y="1066100"/>
            <a:ext cx="2664299" cy="3002701"/>
          </a:xfrm>
          <a:prstGeom prst="rect">
            <a:avLst/>
          </a:prstGeom>
        </p:spPr>
      </p:pic>
      <p:sp>
        <p:nvSpPr>
          <p:cNvPr id="564" name="Google Shape;564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70"/>
          <p:cNvSpPr txBox="1"/>
          <p:nvPr>
            <p:ph idx="3" type="body"/>
          </p:nvPr>
        </p:nvSpPr>
        <p:spPr>
          <a:xfrm>
            <a:off x="4975925" y="1623691"/>
            <a:ext cx="3783600" cy="12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ARINC 429 is a data bus used in </a:t>
            </a:r>
            <a:r>
              <a:rPr lang="en"/>
              <a:t>commercial, private, and military aircrafts </a:t>
            </a:r>
            <a:r>
              <a:rPr lang="en"/>
              <a:t>to transport </a:t>
            </a:r>
            <a:r>
              <a:rPr lang="en"/>
              <a:t>avionic</a:t>
            </a:r>
            <a:r>
              <a:rPr lang="en"/>
              <a:t> data throughout the plane.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includes all of the flight data like the radar, relative pitch and yah, airspeed, data to the black box and much more information.</a:t>
            </a:r>
            <a:endParaRPr/>
          </a:p>
        </p:txBody>
      </p:sp>
      <p:sp>
        <p:nvSpPr>
          <p:cNvPr id="566" name="Google Shape;566;p70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1"/>
          <p:cNvSpPr txBox="1"/>
          <p:nvPr>
            <p:ph type="title"/>
          </p:nvPr>
        </p:nvSpPr>
        <p:spPr>
          <a:xfrm>
            <a:off x="359100" y="613850"/>
            <a:ext cx="5356800" cy="21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Does ARINC work?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1 transmitter sends data to up to 20 </a:t>
            </a:r>
            <a:r>
              <a:rPr lang="en" sz="1800"/>
              <a:t>receivers</a:t>
            </a:r>
            <a:r>
              <a:rPr lang="en" sz="1800"/>
              <a:t> through a single twisted wire pair in which it is unidirectional.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The LRUs transmits 32-bit words, in which 24 of those bits contain data and 8 bits describe the data.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There are no addresses for the LRUs but equipment IDs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Transmission</a:t>
            </a:r>
            <a:r>
              <a:rPr lang="en" sz="1800"/>
              <a:t> rates can either be 12.5 kHz or 100 kHz with a deviation of 1 and only one of these rates can be used at a time.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2" name="Google Shape;572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3" name="Google Shape;573;p7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74" name="Google Shape;574;p71"/>
          <p:cNvPicPr preferRelativeResize="0"/>
          <p:nvPr/>
        </p:nvPicPr>
        <p:blipFill rotWithShape="1">
          <a:blip r:embed="rId3">
            <a:alphaModFix/>
          </a:blip>
          <a:srcRect b="10955" l="0" r="0" t="10955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" name="Google Shape;575;p71"/>
          <p:cNvCxnSpPr/>
          <p:nvPr/>
        </p:nvCxnSpPr>
        <p:spPr>
          <a:xfrm>
            <a:off x="356100" y="415809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2"/>
          <p:cNvSpPr txBox="1"/>
          <p:nvPr>
            <p:ph type="title"/>
          </p:nvPr>
        </p:nvSpPr>
        <p:spPr>
          <a:xfrm>
            <a:off x="719400" y="64500"/>
            <a:ext cx="77052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ARINC work Continued</a:t>
            </a:r>
            <a:endParaRPr/>
          </a:p>
        </p:txBody>
      </p:sp>
      <p:pic>
        <p:nvPicPr>
          <p:cNvPr id="581" name="Google Shape;58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250" y="642238"/>
            <a:ext cx="59436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250" y="1489977"/>
            <a:ext cx="5943600" cy="8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2"/>
          <p:cNvSpPr txBox="1"/>
          <p:nvPr/>
        </p:nvSpPr>
        <p:spPr>
          <a:xfrm>
            <a:off x="670675" y="2340800"/>
            <a:ext cx="77052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 (parity): P bit ensures there are an odd number of 1’s. If there are an even number of ones that means the word was 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damaged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in transit.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SSM: Provides context for the data (cardinal direction, positive or 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negative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, ect)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Data: The data that the 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receiving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LRU interprets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SDI: Informs the LRU of all receivers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Label: Informs LRU on what type of data (velocity, radar, intercom, ect)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Caterpillars</a:t>
            </a:r>
            <a:endParaRPr/>
          </a:p>
        </p:txBody>
      </p:sp>
      <p:sp>
        <p:nvSpPr>
          <p:cNvPr id="589" name="Google Shape;589;p73"/>
          <p:cNvSpPr txBox="1"/>
          <p:nvPr>
            <p:ph idx="2" type="body"/>
          </p:nvPr>
        </p:nvSpPr>
        <p:spPr>
          <a:xfrm>
            <a:off x="395825" y="2880525"/>
            <a:ext cx="8380800" cy="21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data is transmitted in a Return-to-Zero (RZ) format which is a tri state modulation which can has HIGH, NULL, or LOW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When determining what the data is, the voltages are measured at the output terminal at the source and at the </a:t>
            </a:r>
            <a:r>
              <a:rPr lang="en" sz="1200"/>
              <a:t>receiver.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data is measured in bit cycles where the first half is where the voltage is measured and the second half is where it goes back to NULL.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Since the cycle returns to zero, there is no need for an external clock</a:t>
            </a:r>
            <a:endParaRPr sz="1200"/>
          </a:p>
        </p:txBody>
      </p:sp>
      <p:pic>
        <p:nvPicPr>
          <p:cNvPr id="590" name="Google Shape;59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75" y="1342500"/>
            <a:ext cx="4619724" cy="153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325" y="369300"/>
            <a:ext cx="4657150" cy="11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98" name="Google Shape;598;p74"/>
          <p:cNvSpPr txBox="1"/>
          <p:nvPr>
            <p:ph idx="2" type="body"/>
          </p:nvPr>
        </p:nvSpPr>
        <p:spPr>
          <a:xfrm>
            <a:off x="1957800" y="4195275"/>
            <a:ext cx="58293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ARINC 429 data bus is critical domain for aircraft.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Handles essential data from flight information to radar data to black box recordings.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Mission is to protect the integrity and confidentiality of data transmitted across this vital bus.</a:t>
            </a:r>
            <a:endParaRPr sz="900"/>
          </a:p>
        </p:txBody>
      </p:sp>
      <p:sp>
        <p:nvSpPr>
          <p:cNvPr id="599" name="Google Shape;599;p74"/>
          <p:cNvSpPr txBox="1"/>
          <p:nvPr>
            <p:ph type="title"/>
          </p:nvPr>
        </p:nvSpPr>
        <p:spPr>
          <a:xfrm>
            <a:off x="719400" y="627475"/>
            <a:ext cx="770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SYSML model (Package)</a:t>
            </a:r>
            <a:endParaRPr/>
          </a:p>
        </p:txBody>
      </p:sp>
      <p:pic>
        <p:nvPicPr>
          <p:cNvPr id="600" name="Google Shape;600;p74" title="Screenshot 2025-10-12 1237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50" y="671200"/>
            <a:ext cx="6091524" cy="330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7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07" name="Google Shape;607;p75"/>
          <p:cNvSpPr txBox="1"/>
          <p:nvPr>
            <p:ph idx="2" type="body"/>
          </p:nvPr>
        </p:nvSpPr>
        <p:spPr>
          <a:xfrm>
            <a:off x="1698000" y="3742650"/>
            <a:ext cx="2730600" cy="105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Normal Operations:   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Transmit flight data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Display data to the Pilot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Identified Attack: spoof, Flood Bus…</a:t>
            </a:r>
            <a:endParaRPr sz="9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08" name="Google Shape;608;p75"/>
          <p:cNvSpPr txBox="1"/>
          <p:nvPr>
            <p:ph type="title"/>
          </p:nvPr>
        </p:nvSpPr>
        <p:spPr>
          <a:xfrm>
            <a:off x="719400" y="627475"/>
            <a:ext cx="770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SYSML model (Use case)</a:t>
            </a:r>
            <a:endParaRPr/>
          </a:p>
        </p:txBody>
      </p:sp>
      <p:pic>
        <p:nvPicPr>
          <p:cNvPr id="609" name="Google Shape;609;p75" title="Screenshot 2025-10-12 1235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00" y="1138325"/>
            <a:ext cx="4496799" cy="223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75" title="Screenshot 2025-10-12 1235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873" y="1141925"/>
            <a:ext cx="4084927" cy="2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75"/>
          <p:cNvSpPr txBox="1"/>
          <p:nvPr>
            <p:ph idx="2" type="body"/>
          </p:nvPr>
        </p:nvSpPr>
        <p:spPr>
          <a:xfrm>
            <a:off x="4472125" y="3742650"/>
            <a:ext cx="2945400" cy="109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Security Gateway Mitigations: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Authenticate to verify sender identity.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Verify data integrity to check for tampering.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Filter Malicious Traffic to stop bus flooding.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Enforce Data confidentiality.</a:t>
            </a:r>
            <a:endParaRPr sz="9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7" name="Google Shape;617;p7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18" name="Google Shape;618;p76"/>
          <p:cNvSpPr txBox="1"/>
          <p:nvPr>
            <p:ph type="title"/>
          </p:nvPr>
        </p:nvSpPr>
        <p:spPr>
          <a:xfrm>
            <a:off x="719400" y="627475"/>
            <a:ext cx="770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SYSML model (Requirement)</a:t>
            </a:r>
            <a:endParaRPr/>
          </a:p>
        </p:txBody>
      </p:sp>
      <p:pic>
        <p:nvPicPr>
          <p:cNvPr id="619" name="Google Shape;619;p76" title="Screenshot 2025-10-12 1237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900" y="1118575"/>
            <a:ext cx="5860045" cy="2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7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26" name="Google Shape;626;p77"/>
          <p:cNvSpPr txBox="1"/>
          <p:nvPr>
            <p:ph type="title"/>
          </p:nvPr>
        </p:nvSpPr>
        <p:spPr>
          <a:xfrm>
            <a:off x="719400" y="627475"/>
            <a:ext cx="770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SYSML (Parametric)</a:t>
            </a:r>
            <a:endParaRPr/>
          </a:p>
        </p:txBody>
      </p:sp>
      <p:pic>
        <p:nvPicPr>
          <p:cNvPr id="627" name="Google Shape;627;p77" title="Screenshot 2025-10-12 123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888" y="1138325"/>
            <a:ext cx="6750131" cy="29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7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34" name="Google Shape;634;p78"/>
          <p:cNvSpPr txBox="1"/>
          <p:nvPr>
            <p:ph idx="2" type="body"/>
          </p:nvPr>
        </p:nvSpPr>
        <p:spPr>
          <a:xfrm>
            <a:off x="1957800" y="3491675"/>
            <a:ext cx="5228400" cy="161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●"/>
            </a:pPr>
            <a:r>
              <a:rPr lang="en" sz="900"/>
              <a:t>Normal Secured Operation:</a:t>
            </a: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○"/>
            </a:pPr>
            <a:r>
              <a:rPr lang="en" sz="900"/>
              <a:t>Legitimate sender transmits a frame signed with a cryptographic key.</a:t>
            </a: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○"/>
            </a:pPr>
            <a:r>
              <a:rPr lang="en" sz="900"/>
              <a:t>The Security Gateway authenticates the signature successfully.</a:t>
            </a: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○"/>
            </a:pPr>
            <a:r>
              <a:rPr lang="en" sz="900"/>
              <a:t>Validated data is forwarded to the output system for processing.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●"/>
            </a:pPr>
            <a:r>
              <a:rPr lang="en" sz="900"/>
              <a:t>Attack Mitigation Scenario:</a:t>
            </a: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○"/>
            </a:pPr>
            <a:r>
              <a:rPr lang="en" sz="900"/>
              <a:t>An attacker transmits a frame with an invalid or missing key.</a:t>
            </a: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○"/>
            </a:pPr>
            <a:r>
              <a:rPr lang="en" sz="900"/>
              <a:t>The Security Gateway fails the authentication check.</a:t>
            </a: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○"/>
            </a:pPr>
            <a:r>
              <a:rPr lang="en" sz="900"/>
              <a:t>The malicious frame is silently discarded, protecting the output system.</a:t>
            </a:r>
            <a:endParaRPr sz="9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78"/>
          <p:cNvSpPr txBox="1"/>
          <p:nvPr>
            <p:ph type="title"/>
          </p:nvPr>
        </p:nvSpPr>
        <p:spPr>
          <a:xfrm>
            <a:off x="719400" y="451725"/>
            <a:ext cx="770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Sequence/Block DDC</a:t>
            </a:r>
            <a:endParaRPr/>
          </a:p>
        </p:txBody>
      </p:sp>
      <p:pic>
        <p:nvPicPr>
          <p:cNvPr id="636" name="Google Shape;636;p78" title="Screenshot 2025-10-12 123746.png"/>
          <p:cNvPicPr preferRelativeResize="0"/>
          <p:nvPr/>
        </p:nvPicPr>
        <p:blipFill rotWithShape="1">
          <a:blip r:embed="rId3">
            <a:alphaModFix/>
          </a:blip>
          <a:srcRect b="0" l="0" r="48315" t="0"/>
          <a:stretch/>
        </p:blipFill>
        <p:spPr>
          <a:xfrm>
            <a:off x="5368325" y="817414"/>
            <a:ext cx="2347082" cy="2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78" title="Screenshot 2025-10-12 123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036" y="817414"/>
            <a:ext cx="3849639" cy="26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7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79"/>
          <p:cNvSpPr txBox="1"/>
          <p:nvPr>
            <p:ph type="title"/>
          </p:nvPr>
        </p:nvSpPr>
        <p:spPr>
          <a:xfrm>
            <a:off x="1453650" y="85694"/>
            <a:ext cx="6236700" cy="9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Modeling</a:t>
            </a:r>
            <a:endParaRPr/>
          </a:p>
        </p:txBody>
      </p:sp>
      <p:graphicFrame>
        <p:nvGraphicFramePr>
          <p:cNvPr id="645" name="Google Shape;645;p79"/>
          <p:cNvGraphicFramePr/>
          <p:nvPr/>
        </p:nvGraphicFramePr>
        <p:xfrm>
          <a:off x="384075" y="45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{3AC886B8-FFB4-4BDE-BA75-7B5D32792367}</a:tableStyleId>
              </a:tblPr>
              <a:tblGrid>
                <a:gridCol w="2760650"/>
                <a:gridCol w="2760650"/>
                <a:gridCol w="2760650"/>
              </a:tblGrid>
              <a:tr h="4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Altered Frames (Tampering)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Replay (Spoofing)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Damage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(3)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Can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affect all receiving nodes on the same bus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(3)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Can affect all receiving nodes on the same bus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9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Reproducibility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AutoNum type="arabicParenBoth"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Frame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specifications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varies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by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manufacturer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(3)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does not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require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knowledge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of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data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specifications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, attack stays the same if the same LRU is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compromised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each time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Exploitability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AutoNum type="arabicParenBoth"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Requires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physical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access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, custom malware, and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knowledge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of how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receivers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interpret data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(2)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Requires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physical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access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and custom malware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9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Affected users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(3)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Potential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for all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passengers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to be affected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(3)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Potential for all passengers to be affected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Discoverability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(2)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Knowledge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of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theoretical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attack is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easily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discoverable due to public protocol information, however label and data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specifications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are not public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(2)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Knowledge of theoretical attack is easily discoverable due to public protocol information, however label and data specifications are not public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0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Total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 (Medium)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 (High)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52" name="Google Shape;652;p80"/>
          <p:cNvSpPr txBox="1"/>
          <p:nvPr>
            <p:ph type="title"/>
          </p:nvPr>
        </p:nvSpPr>
        <p:spPr>
          <a:xfrm>
            <a:off x="1453650" y="32448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653" name="Google Shape;65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037" y="886351"/>
            <a:ext cx="6101930" cy="37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0"/>
          <p:cNvSpPr txBox="1"/>
          <p:nvPr/>
        </p:nvSpPr>
        <p:spPr>
          <a:xfrm>
            <a:off x="3566600" y="1250650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Aviation data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5" name="Google Shape;655;p80"/>
          <p:cNvSpPr txBox="1"/>
          <p:nvPr/>
        </p:nvSpPr>
        <p:spPr>
          <a:xfrm>
            <a:off x="5376600" y="2332050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Aviation data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6" name="Google Shape;656;p80"/>
          <p:cNvSpPr txBox="1"/>
          <p:nvPr/>
        </p:nvSpPr>
        <p:spPr>
          <a:xfrm>
            <a:off x="1384525" y="2332050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Auto pilot </a:t>
            </a: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7" name="Google Shape;657;p80"/>
          <p:cNvSpPr txBox="1"/>
          <p:nvPr/>
        </p:nvSpPr>
        <p:spPr>
          <a:xfrm>
            <a:off x="4572000" y="3768975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Flight </a:t>
            </a: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8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64" name="Google Shape;664;p81"/>
          <p:cNvSpPr txBox="1"/>
          <p:nvPr>
            <p:ph type="title"/>
          </p:nvPr>
        </p:nvSpPr>
        <p:spPr>
          <a:xfrm>
            <a:off x="1453650" y="32448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Cont.</a:t>
            </a:r>
            <a:endParaRPr/>
          </a:p>
        </p:txBody>
      </p:sp>
      <p:pic>
        <p:nvPicPr>
          <p:cNvPr id="665" name="Google Shape;66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25" y="681450"/>
            <a:ext cx="695325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81"/>
          <p:cNvSpPr txBox="1"/>
          <p:nvPr/>
        </p:nvSpPr>
        <p:spPr>
          <a:xfrm>
            <a:off x="3776325" y="1416000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Aviation data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7" name="Google Shape;667;p81"/>
          <p:cNvSpPr txBox="1"/>
          <p:nvPr/>
        </p:nvSpPr>
        <p:spPr>
          <a:xfrm>
            <a:off x="5645250" y="2421950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Aviation data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8" name="Google Shape;668;p81"/>
          <p:cNvSpPr txBox="1"/>
          <p:nvPr/>
        </p:nvSpPr>
        <p:spPr>
          <a:xfrm>
            <a:off x="1625700" y="2571750"/>
            <a:ext cx="14082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Malicious Replayed Aviation </a:t>
            </a: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Flood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9" name="Google Shape;669;p81"/>
          <p:cNvSpPr txBox="1"/>
          <p:nvPr/>
        </p:nvSpPr>
        <p:spPr>
          <a:xfrm>
            <a:off x="5603275" y="3602225"/>
            <a:ext cx="14082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Malicious Replayed Aviation data Flood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0" name="Google Shape;670;p81"/>
          <p:cNvSpPr txBox="1"/>
          <p:nvPr/>
        </p:nvSpPr>
        <p:spPr>
          <a:xfrm>
            <a:off x="1739425" y="1066100"/>
            <a:ext cx="140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Malware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8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77" name="Google Shape;677;p82"/>
          <p:cNvSpPr txBox="1"/>
          <p:nvPr>
            <p:ph type="title"/>
          </p:nvPr>
        </p:nvSpPr>
        <p:spPr>
          <a:xfrm>
            <a:off x="1453650" y="32448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Cont.</a:t>
            </a:r>
            <a:endParaRPr/>
          </a:p>
        </p:txBody>
      </p:sp>
      <p:pic>
        <p:nvPicPr>
          <p:cNvPr id="678" name="Google Shape;678;p82" title="ARINC429 MIDTERM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4965" y="842636"/>
            <a:ext cx="6055375" cy="45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4" name="Google Shape;684;p8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83"/>
          <p:cNvSpPr txBox="1"/>
          <p:nvPr>
            <p:ph type="title"/>
          </p:nvPr>
        </p:nvSpPr>
        <p:spPr>
          <a:xfrm>
            <a:off x="3178350" y="261825"/>
            <a:ext cx="5622000" cy="28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and 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[1] https://github.com/JoshuaMFrench/CYSE465-Caterpillars-Group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[2] B. Waldmann. ARINC 429 Tutorial, v2.2. (2019). Accessed: September 12th, 2025. [Online]. Available: https://www.aim-online.com/wp-content/uploads/2019/07/aim-tutorial-oview429-190712-u.pdf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[3] https://www.omg.org/sysml/INCOSE-OMGSysML-Tutorial-Final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6" name="Google Shape;686;p83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</p:spPr>
      </p:sp>
      <p:pic>
        <p:nvPicPr>
          <p:cNvPr descr="A modern glass office building with one open window" id="687" name="Google Shape;687;p8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361975" y="1066100"/>
            <a:ext cx="1967698" cy="13116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4"/>
          <p:cNvSpPr/>
          <p:nvPr/>
        </p:nvSpPr>
        <p:spPr>
          <a:xfrm>
            <a:off x="2286118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3" name="Google Shape;693;p84"/>
          <p:cNvSpPr/>
          <p:nvPr/>
        </p:nvSpPr>
        <p:spPr>
          <a:xfrm>
            <a:off x="4565474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4" name="Google Shape;694;p84"/>
          <p:cNvSpPr/>
          <p:nvPr/>
        </p:nvSpPr>
        <p:spPr>
          <a:xfrm>
            <a:off x="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5" name="Google Shape;695;p84"/>
          <p:cNvSpPr/>
          <p:nvPr/>
        </p:nvSpPr>
        <p:spPr>
          <a:xfrm>
            <a:off x="68495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96" name="Google Shape;696;p84"/>
          <p:cNvCxnSpPr/>
          <p:nvPr/>
        </p:nvCxnSpPr>
        <p:spPr>
          <a:xfrm>
            <a:off x="6849550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84"/>
          <p:cNvCxnSpPr/>
          <p:nvPr/>
        </p:nvCxnSpPr>
        <p:spPr>
          <a:xfrm>
            <a:off x="4565474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84"/>
          <p:cNvCxnSpPr/>
          <p:nvPr/>
        </p:nvCxnSpPr>
        <p:spPr>
          <a:xfrm>
            <a:off x="2286118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84"/>
          <p:cNvSpPr txBox="1"/>
          <p:nvPr>
            <p:ph idx="5" type="body"/>
          </p:nvPr>
        </p:nvSpPr>
        <p:spPr>
          <a:xfrm>
            <a:off x="4618950" y="3458575"/>
            <a:ext cx="2184000" cy="10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Initial case study for the proposal with team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Simulating communication with terminals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Pushed updates to the Repository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Prepare and structure the powerpoint with team</a:t>
            </a:r>
            <a:endParaRPr sz="800"/>
          </a:p>
        </p:txBody>
      </p:sp>
      <p:sp>
        <p:nvSpPr>
          <p:cNvPr id="700" name="Google Shape;700;p8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8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Team Caterpillar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4"/>
          <p:cNvSpPr txBox="1"/>
          <p:nvPr>
            <p:ph idx="8" type="body"/>
          </p:nvPr>
        </p:nvSpPr>
        <p:spPr>
          <a:xfrm>
            <a:off x="2332263" y="3458575"/>
            <a:ext cx="21954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Initial case study </a:t>
            </a:r>
            <a:r>
              <a:rPr lang="en" sz="800"/>
              <a:t>for</a:t>
            </a:r>
            <a:r>
              <a:rPr lang="en" sz="800"/>
              <a:t> the proposal with team. 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System </a:t>
            </a:r>
            <a:r>
              <a:rPr lang="en" sz="800"/>
              <a:t>Architecture</a:t>
            </a:r>
            <a:r>
              <a:rPr lang="en" sz="800"/>
              <a:t> (Sysml model). 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Initial Python simulation for testing communication with terminal. </a:t>
            </a:r>
            <a:endParaRPr sz="8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800"/>
              <a:t>Prepare and structure the powerpoint with team. </a:t>
            </a:r>
            <a:r>
              <a:rPr lang="en"/>
              <a:t> </a:t>
            </a:r>
            <a:endParaRPr/>
          </a:p>
        </p:txBody>
      </p:sp>
      <p:sp>
        <p:nvSpPr>
          <p:cNvPr id="703" name="Google Shape;703;p84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</a:t>
            </a:r>
            <a:endParaRPr/>
          </a:p>
        </p:txBody>
      </p:sp>
      <p:sp>
        <p:nvSpPr>
          <p:cNvPr id="704" name="Google Shape;704;p84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It was “</a:t>
            </a:r>
            <a:r>
              <a:rPr lang="en"/>
              <a:t>All hand on deck” approach for the project until the Midterm.</a:t>
            </a:r>
            <a:endParaRPr/>
          </a:p>
        </p:txBody>
      </p:sp>
      <p:sp>
        <p:nvSpPr>
          <p:cNvPr id="705" name="Google Shape;705;p84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Effort</a:t>
            </a:r>
            <a:endParaRPr/>
          </a:p>
        </p:txBody>
      </p:sp>
      <p:sp>
        <p:nvSpPr>
          <p:cNvPr id="706" name="Google Shape;706;p84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Nate</a:t>
            </a:r>
            <a:endParaRPr/>
          </a:p>
        </p:txBody>
      </p:sp>
      <p:sp>
        <p:nvSpPr>
          <p:cNvPr id="707" name="Google Shape;707;p84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</a:t>
            </a:r>
            <a:endParaRPr/>
          </a:p>
        </p:txBody>
      </p:sp>
      <p:sp>
        <p:nvSpPr>
          <p:cNvPr id="708" name="Google Shape;708;p84"/>
          <p:cNvSpPr txBox="1"/>
          <p:nvPr>
            <p:ph type="title"/>
          </p:nvPr>
        </p:nvSpPr>
        <p:spPr>
          <a:xfrm>
            <a:off x="1400025" y="451732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</a:t>
            </a:r>
            <a:r>
              <a:rPr lang="en"/>
              <a:t>Contribution</a:t>
            </a:r>
            <a:endParaRPr/>
          </a:p>
        </p:txBody>
      </p:sp>
      <p:sp>
        <p:nvSpPr>
          <p:cNvPr id="709" name="Google Shape;709;p84"/>
          <p:cNvSpPr txBox="1"/>
          <p:nvPr>
            <p:ph idx="8" type="body"/>
          </p:nvPr>
        </p:nvSpPr>
        <p:spPr>
          <a:xfrm>
            <a:off x="49538" y="3458575"/>
            <a:ext cx="21954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Initial case study for the proposal with team. 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Python simulation of communication protocol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Python </a:t>
            </a:r>
            <a:r>
              <a:rPr lang="en" sz="800"/>
              <a:t>simulation</a:t>
            </a:r>
            <a:r>
              <a:rPr lang="en" sz="800"/>
              <a:t> of replay attack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Recorded Demo</a:t>
            </a:r>
            <a:endParaRPr sz="8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800"/>
              <a:t>Prepare and structure the powerpoint with team. 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